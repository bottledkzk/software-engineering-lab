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开场（约 30 秒）：先给结论——纯前端、零依赖、可离线，需求到验证四件套齐全，170 项自动化断言全部通过。然后说“下面先讲需求和设计，再现场操作”。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三个痛点各一句话，不要展开；重点落在“所以我们的目标是打开就能玩一局”。范围外的 11 项如果被问到再讲。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三类画像对应三种使用场景，后面界面设计（引导、低打扰排行榜、选关页星级）都是由画像推出来的。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三组数字要念清楚：20 条功能、22 条非功能、37 条验收；再加“明确不做 11 项”，体现范围控制。非功能里点出首屏、帧率、离线、存档可靠性四项。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只讲一个取舍：纯逻辑领域层。因为它决定了“玩法能在 Node 里跑断言”。四层从下往上说，或者从上往下都行，30～40 秒讲完。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个模块一句话带过，重点讲接口一致性这一条：设计文档写了 51 条接口，测试逐条比对代码里有没有同名导出。这正是老师反馈里建议的“纳入门禁”。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挑 4 个决策讲，每个都是“备选 → 为什么否决 → 选了什么”。老师通常就爱问这类。若时间紧，只讲前两个。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数据这一页只讲“一致性怎么保证”：单键、原子写、备份、归一化、迁移。多标签页那句可以留给提问。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种故障模式压缩成 4 条原则，讲原则就行。用户可见的三类提示：顶部横幅、页面内提示、设置页状态。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这一页是给自己看的路线图，可以快速带过，然后切到游戏。演示顺序：选关 → 交换与连锁 → 特殊方块（凑不出就切 1-1）→ 道具 → 结算 → 排行与设置 → 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证据墙：170 项断言 + 难度校准。念数字时慢一点：64、46、51、9；然后是 83.0%、44.9%、18%。强调“脚本可复现、种子固定”。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工程实践三条：文档即代码、四合一扫描、提交信息带验证结果。这条最能体现“过程规范”，也回应了老师对文档一致性的要求。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部分如实讲：AI 做什么、人做什么、留痕在哪。老师最在意“是不是直接照搬”，我们就讲“每条结论都有人工核实与实测”。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收尾：分工各一句，下一步三条。最后一句“谢谢，欢迎提问”就好，不要拖。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1097280"/>
            <a:ext cx="5486400" cy="5486400"/>
          </a:xfrm>
          <a:prstGeom prst="ellipse">
            <a:avLst/>
          </a:prstGeom>
          <a:solidFill>
            <a:srgbClr val="221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772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800" b="1">
                <a:solidFill>
                  <a:srgbClr val="ECE9FF"/>
                </a:solidFill>
                <a:latin typeface="微软雅黑"/>
                <a:ea typeface="微软雅黑"/>
              </a:rPr>
              <a:t>星尘消除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8CFF"/>
                </a:solidFill>
                <a:latin typeface="微软雅黑"/>
                <a:ea typeface="微软雅黑"/>
              </a:rPr>
              <a:t>轻量级益智消除类网页游戏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79FD8"/>
                </a:solidFill>
                <a:latin typeface="微软雅黑"/>
                <a:ea typeface="微软雅黑"/>
              </a:rPr>
              <a:t>需求分析 → 系统设计 → 代码实现 → 自动化验证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15968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D166"/>
                </a:solidFill>
                <a:latin typeface="微软雅黑"/>
                <a:ea typeface="微软雅黑"/>
              </a:rPr>
              <a:t>零依赖 · 可离线 · 170 项断言全部通过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4068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CE9FF"/>
                </a:solidFill>
                <a:latin typeface="微软雅黑"/>
                <a:ea typeface="微软雅黑"/>
              </a:rPr>
              <a:t>小组演示 · 邓淇阳（U202414805）/ 【成员B】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0644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2026 年 10 月 · 软件工程 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01 / 为什么做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三个真实痛点，一个克制目标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D166"/>
                </a:solidFill>
                <a:latin typeface="微软雅黑"/>
                <a:ea typeface="微软雅黑"/>
              </a:rPr>
              <a:t>必须联网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地铁、飞行模式、弱网下直接玩不了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D166"/>
                </a:solidFill>
                <a:latin typeface="微软雅黑"/>
                <a:ea typeface="微软雅黑"/>
              </a:rPr>
              <a:t>广告打断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87168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看广告换道具，一局被打断多次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D166"/>
                </a:solidFill>
                <a:latin typeface="微软雅黑"/>
                <a:ea typeface="微软雅黑"/>
              </a:rPr>
              <a:t>体力限制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487168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体力用完即止，想玩也玩不了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2044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262057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10332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CE9FF"/>
                </a:solidFill>
                <a:latin typeface="微软雅黑"/>
                <a:ea typeface="微软雅黑"/>
              </a:rPr>
              <a:t>产品目标：打开就能玩一局（5～10 分钟），全程不需要联网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7"/>
            <a:ext cx="10332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差异化 = 完全离线可玩 + 无广告无体力 + 本地排行榜；不做账号、内购、在线榜等 11 项（见需求文档范围外清单）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39512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8CFF"/>
                </a:solidFill>
                <a:latin typeface="微软雅黑"/>
                <a:ea typeface="微软雅黑"/>
              </a:rPr>
              <a:t>30 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16168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3 章 × 10 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507492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239512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8CFF"/>
                </a:solidFill>
                <a:latin typeface="微软雅黑"/>
                <a:ea typeface="微软雅黑"/>
              </a:rPr>
              <a:t>3 种道具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916168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洗牌 / 锤子 / +5 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507492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5239512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8CFF"/>
                </a:solidFill>
                <a:latin typeface="微软雅黑"/>
                <a:ea typeface="微软雅黑"/>
              </a:rPr>
              <a:t>2 类目标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5916168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计分 / 消除指定色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0264" y="507492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0264" y="5239512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8CFF"/>
                </a:solidFill>
                <a:latin typeface="微软雅黑"/>
                <a:ea typeface="微软雅黑"/>
              </a:rPr>
              <a:t>0 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4" y="5916168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零第三方库、零构建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02 / 给谁做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三类用户画像，覆盖三种使用场景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9B8CFF"/>
                </a:solidFill>
                <a:latin typeface="微软雅黑"/>
                <a:ea typeface="微软雅黑"/>
              </a:rPr>
              <a:t>碎片时间型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课间 5～10 分钟，一局即走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67128"/>
            <a:ext cx="5943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CE9FF"/>
                </a:solidFill>
                <a:latin typeface="微软雅黑"/>
                <a:ea typeface="微软雅黑"/>
              </a:rPr>
              <a:t>界面应对：主菜单「继续」一键进关；无强制引导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64408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9B8CFF"/>
                </a:solidFill>
                <a:latin typeface="微软雅黑"/>
                <a:ea typeface="微软雅黑"/>
              </a:rPr>
              <a:t>冲星型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22776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在意星级与最高分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648456"/>
            <a:ext cx="5943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CE9FF"/>
                </a:solidFill>
                <a:latin typeface="微软雅黑"/>
                <a:ea typeface="微软雅黑"/>
              </a:rPr>
              <a:t>界面应对：选关页显示每关星级；结算显示星级与新纪录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45736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0328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9B8CFF"/>
                </a:solidFill>
                <a:latin typeface="微软雅黑"/>
                <a:ea typeface="微软雅黑"/>
              </a:rPr>
              <a:t>比分型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04104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和舍友比成绩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129784"/>
            <a:ext cx="5943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CE9FF"/>
                </a:solidFill>
                <a:latin typeface="微软雅黑"/>
                <a:ea typeface="微软雅黑"/>
              </a:rPr>
              <a:t>界面应对：本地总星榜 / 单关榜；局内不弹排名提示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03 / 需求基线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20 条功能 · 22 条非功能 · 37 条验收标准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47672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8CFF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功能需求 FR-01~20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947672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4AD9A4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62432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非功能需求 NFR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947672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FFD166"/>
                </a:solidFill>
                <a:latin typeface="微软雅黑"/>
                <a:ea typeface="微软雅黑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262432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验收用例 AC-01~37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78308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947672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A79FD8"/>
                </a:solidFill>
                <a:latin typeface="微软雅黑"/>
                <a:ea typeface="微软雅黑"/>
              </a:rPr>
              <a:t>11 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624328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明确不做的范围外事项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00400"/>
            <a:ext cx="10881360" cy="22860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64992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8CFF"/>
                </a:solidFill>
                <a:latin typeface="微软雅黑"/>
                <a:ea typeface="微软雅黑"/>
              </a:rPr>
              <a:t>关键非功能指标（全部可度量、可验证）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• 首屏可交互 ≤ 2 s（4G、中端机；关键资源 gzip ≤ 1.2 MB）　·　运行帧率 ≥ 50 fps　·　操作响应 ≤ 100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78808"/>
            <a:ext cx="10332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• 存档写入成功率 100%（连续 200 次 0 失败）；损坏先备份再重置，写失败必须提示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62856"/>
            <a:ext cx="10332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• 首次加载后断网可完整游玩（离线资源缓存）；存储不可用时降级运行、不白屏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• 色觉友好（颜色 + 形状双编码）；音效可完全关闭；全中文文案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04 /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四层分层，玩法规则挤在不依赖浏览器的领域层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7498079" cy="9144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7132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8CFF"/>
                </a:solidFill>
                <a:latin typeface="微软雅黑"/>
                <a:ea typeface="微软雅黑"/>
              </a:rPr>
              <a:t>表现层 ARCH-01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7132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ui.js：Canvas 渲染 · 输入（点击/拖拽/键盘）· 动画 · 引导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62072"/>
            <a:ext cx="7498079" cy="9144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7132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8CFF"/>
                </a:solidFill>
                <a:latin typeface="微软雅黑"/>
                <a:ea typeface="微软雅黑"/>
              </a:rPr>
              <a:t>应用层 ARCH-02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64991"/>
            <a:ext cx="7132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main.js：状态机 · 流程编排 · 结算与排行榜 · 存档时机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41063"/>
            <a:ext cx="7498079" cy="914400"/>
          </a:xfrm>
          <a:prstGeom prst="roundRect">
            <a:avLst>
              <a:gd name="adj" fmla="val 6000"/>
            </a:avLst>
          </a:prstGeom>
          <a:solidFill>
            <a:srgbClr val="262057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50791"/>
            <a:ext cx="7132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领域层 ARCH-03（纯逻辑）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3"/>
            <a:ext cx="7132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board / score / levels / config：规则唯一实现，Node 可直接测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020056"/>
            <a:ext cx="7498079" cy="91440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7132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8CFF"/>
                </a:solidFill>
                <a:latin typeface="微软雅黑"/>
                <a:ea typeface="微软雅黑"/>
              </a:rPr>
              <a:t>基础设施层 ARCH-04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22976"/>
            <a:ext cx="7132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storage / audio / sw：存档 · 音效 · 离线缓存（可注入替换）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783080"/>
            <a:ext cx="3108960" cy="406908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96596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D166"/>
                </a:solidFill>
                <a:latin typeface="微软雅黑"/>
                <a:ea typeface="微软雅黑"/>
              </a:rPr>
              <a:t>依赖规则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377440"/>
            <a:ext cx="26974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单向依赖、无环（矩阵可查）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44368"/>
            <a:ext cx="26974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领域层不碰 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511296"/>
            <a:ext cx="26974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平台能力收敛在 storage 注入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078224"/>
            <a:ext cx="26974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随机性可注入（种子可复现）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645152"/>
            <a:ext cx="26974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状态单向流动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17220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为什么这样分：规则与界面解耦后，计分/消除/洗牌可以脱离浏览器验证——这是 170 项断言能跑起来的前提。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05 / 模块与接口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9 个模块 · 51 条接口 · 接口清单与代码自动比对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7223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23360"/>
                <a:gridCol w="91440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D166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54864" marR="54864" marT="27432" marB="27432" anchor="ctr">
                    <a:solidFill>
                      <a:srgbClr val="2620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D166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54864" marR="54864" marT="27432" marB="27432" anchor="ctr">
                    <a:solidFill>
                      <a:srgbClr val="2620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D166"/>
                          </a:solidFill>
                          <a:latin typeface="微软雅黑"/>
                          <a:ea typeface="微软雅黑"/>
                        </a:rPr>
                        <a:t>接口数</a:t>
                      </a:r>
                    </a:p>
                  </a:txBody>
                  <a:tcPr marL="54864" marR="54864" marT="27432" marB="27432" anchor="ctr">
                    <a:solidFill>
                      <a:srgbClr val="262057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config / score / levels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常量 · 计分星级 · 关卡配置与校验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board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棋盘、交换、连锁、特殊方块、洗牌、道具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存档校验、归一化、迁移、原子写、降级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audio / ui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音效合成 · Canvas 渲染与输入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main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状态机、编排、结算、排行榜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sw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预缓存、缓存优先、版本清理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7830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9659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D166"/>
                </a:solidFill>
                <a:latin typeface="微软雅黑"/>
                <a:ea typeface="微软雅黑"/>
              </a:rPr>
              <a:t>接口一致性门禁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77440"/>
            <a:ext cx="29260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解析设计文档 §6.1 的 51 条接口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980944"/>
            <a:ext cx="29260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逐条在对应模块里找同名导出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584448"/>
            <a:ext cx="29260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51/51 全部匹配，0 遗漏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87952"/>
            <a:ext cx="29260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E9FF"/>
                </a:solidFill>
                <a:latin typeface="微软雅黑"/>
                <a:ea typeface="微软雅黑"/>
              </a:rPr>
              <a:t>— 改名/漏实现会直接失败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108813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另：接口按“引入批次”编号，模块内编号不一定连续——文档里有「模块 → API 编号对照表」，保证第 4 章声明数与第 6 章表格逐条一致。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06 / 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四个被反复权衡的取舍（含被否决方案）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11095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纯逻辑领域层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0008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否决：逻辑与 DOM 混合（无法自动测、改动风险高）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1752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D9A4"/>
                </a:solidFill>
                <a:latin typeface="微软雅黑"/>
                <a:ea typeface="微软雅黑"/>
              </a:rPr>
              <a:t>→ 玩法可在 Node 直接断言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7830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11095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零依赖零构建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50008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否决：Vite 打包 / React（无依赖可打包，只增复杂度）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301752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D9A4"/>
                </a:solidFill>
                <a:latin typeface="微软雅黑"/>
                <a:ea typeface="微软雅黑"/>
              </a:rPr>
              <a:t>→ 制品即源码，可离线、体积可控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862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014215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Canvas 2D 渲染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53128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否决：DOM+CSS 动画（低端掉帧）/ WebGL（过度设计）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1206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D9A4"/>
                </a:solidFill>
                <a:latin typeface="微软雅黑"/>
                <a:ea typeface="微软雅黑"/>
              </a:rPr>
              <a:t>→ 81 格方块，2D 足够且稳定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8862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4014215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构造式洗牌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453128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否决：随机重排+拒绝采样（3 色下几乎必然失败）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51206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D9A4"/>
                </a:solidFill>
                <a:latin typeface="微软雅黑"/>
                <a:ea typeface="微软雅黑"/>
              </a:rPr>
              <a:t>→ 保证“无连线+可玩”，不破坏预期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07 / 数据与一致性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一个存档键，五道保险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单键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version / 昵称 / 解锁 / 金币 / 道具 / 星数 / 最好分 / 两榜 / 设置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24328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原子写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07208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先写临时键 → 覆盖正式键 → 删临时键，避免写一半损坏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65576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02736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损坏恢复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48456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解析或结构失败 → 原文备份到 *_corrupt_&lt;时间戳&gt; → 重置并提示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06824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43984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归一化规则表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89704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14 个字段逐一给出“缺省值 / 缺失时行为 / 非法时行为”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148072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85232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版本迁移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330952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整数版本对应 SemVer 的 MAJOR：不兼容变更才递增并迁移，失败走损坏流程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6364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另外：同浏览器多标签页以最后写入为准（last-write-wins），不做跨页实时同步——明确写在数据设计里。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08 / 异常与降级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12 种故障模式，4 条处理原则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11095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1. 不白屏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000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任何能力缺失都降级为“可玩但不完美”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8308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911095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2. 先备份再告知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35000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数据类故障：备份 → 重置 → 明确提示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45536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3. 循环必须有上限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58444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初始化 50 次、洗牌 80 次、兜底 500 次、跨轮 5 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0175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145536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4. 提示不用技术语言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58444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不出现异常堆栈与英文错误码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3484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262057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D166"/>
                </a:solidFill>
                <a:latin typeface="微软雅黑"/>
                <a:ea typeface="微软雅黑"/>
              </a:rPr>
              <a:t>典型降级路径（现场可演示）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• 存储不可用（隐私模式/被禁用）→ 内存模式运行，设置页标注“进度仅本次有效”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12664"/>
            <a:ext cx="103327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• 音效不可用（策略阻止）→ 全部音频接口空操作，界面不报错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41848"/>
            <a:ext cx="103327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• 离线缓存不可用（非安全上下文/注册失败）→ 在线模式 + 设置页标注“离线不可用”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09 / 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七步演示路线（约 3 分半）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7680960"/>
              </a:tblGrid>
              <a:tr h="44577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D166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2620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D166"/>
                          </a:solidFill>
                          <a:latin typeface="微软雅黑"/>
                          <a:ea typeface="微软雅黑"/>
                        </a:rPr>
                        <a:t>演示点</a:t>
                      </a:r>
                    </a:p>
                  </a:txBody>
                  <a:tcPr marL="54864" marR="54864" marT="27432" marB="27432" anchor="ctr">
                    <a:solidFill>
                      <a:srgbClr val="2620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D166"/>
                          </a:solidFill>
                          <a:latin typeface="微软雅黑"/>
                          <a:ea typeface="微软雅黑"/>
                        </a:rPr>
                        <a:t>看什么</a:t>
                      </a:r>
                    </a:p>
                  </a:txBody>
                  <a:tcPr marL="54864" marR="54864" marT="27432" marB="27432" anchor="ctr">
                    <a:solidFill>
                      <a:srgbClr val="262057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D1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选关页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3 章 30 关、星级、锁定态；配置驱动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D2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交换与连锁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得分 = 20 × 连锁倍率；剩余步数折算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D3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特殊方块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4 连→条纹、T 形→炸弹、5 连→彩虹、双特殊→十字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D4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三种道具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洗牌 / 锤子（选格才扣费）/ +5 步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D5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结算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总分、星级（过关至少 1 星）、金币奖励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排行榜与设置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两榜、低打扰、离线与音效状态、重置二次确认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D7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离线演练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CE9FF"/>
                          </a:solidFill>
                          <a:latin typeface="微软雅黑"/>
                          <a:ea typeface="微软雅黑"/>
                        </a:rPr>
                        <a:t>断网刷新仍可玩（Service Worker 预缓存）</a:t>
                      </a:r>
                    </a:p>
                  </a:txBody>
                  <a:tcPr marL="54864" marR="54864" marT="27432" marB="27432" anchor="ctr">
                    <a:solidFill>
                      <a:srgbClr val="1E1A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532120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备用：若 D3 凑不出特殊方块，切 1-1（4 色棋盘更容易 4 连）；再不行切回本页讲规则 + 展示 board.js 的 SP 枚举。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10 /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170 项自动化断言全部通过，难度由模拟玩家校准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8CFF"/>
                </a:solidFill>
                <a:latin typeface="微软雅黑"/>
                <a:ea typeface="微软雅黑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领域层断言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3736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901952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4AD9A4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57860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应用层结算断言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173736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901952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FFD166"/>
                </a:solidFill>
                <a:latin typeface="微软雅黑"/>
                <a:ea typeface="微软雅黑"/>
              </a:rPr>
              <a:t>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257860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接口一致性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737360"/>
            <a:ext cx="3383280" cy="109728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901952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A79FD8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578608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79FD8"/>
                </a:solidFill>
                <a:latin typeface="微软雅黑"/>
                <a:ea typeface="微软雅黑"/>
              </a:rPr>
              <a:t>页面接线校验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6324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1868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8CFF"/>
                </a:solidFill>
                <a:latin typeface="微软雅黑"/>
                <a:ea typeface="微软雅黑"/>
              </a:rPr>
              <a:t>难度校准（模拟玩家）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11880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贪心玩家通关率 83.0%（630 局）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95928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休闲玩家通关率 44.9%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79976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通关局中三星占 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764024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0 星只出现在未过关局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63240"/>
            <a:ext cx="5321808" cy="219456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8CFF"/>
                </a:solidFill>
                <a:latin typeface="微软雅黑"/>
                <a:ea typeface="微软雅黑"/>
              </a:rPr>
              <a:t>怎么保证这些数字可信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11880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固定随机种子，连续两次运行结果一致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95928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断言清单与运行日志随包提供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79976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接口清单与代码导出自动比对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64024"/>
            <a:ext cx="48463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验收分组（9 局/关）与校准（21 局/关）口径分别标注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48640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79FD8"/>
                </a:solidFill>
                <a:latin typeface="微软雅黑"/>
                <a:ea typeface="微软雅黑"/>
              </a:rPr>
              <a:t>结论：规则、结算、离线与降级路径都有可复跑的断言；性能与兼容类指标需真机，已给出基准设备与判定阈值（未实测的如实标注“待实测”）。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11 / 工程实践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文档即代码 · 交付前四合一扫描 · 变更全程留痕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文档即代码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947672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Markdown 为唯一来源 → 脚本生成 Word → 结构校验输出随包；文档与代码同仓、同版本控制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9864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08376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四合一扫描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63240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编号自检 → 章节连续性 → 表间交叉引用 → 路径口径；每次增补后必跑，作为提交门禁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14215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23944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变更留痕与审查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178807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15 项需求变更逐项说明；组员提交 PR #1 修复 3 处运行期缺陷，经复跑测试与接口核对后合并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2978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D166"/>
                </a:solidFill>
                <a:latin typeface="微软雅黑"/>
                <a:ea typeface="微软雅黑"/>
              </a:rPr>
              <a:t>接口即契约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294376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代码里的函数名与设计文档的接口名一致；改名会让一致性测试失败（finish → onSettle 就是这么改的）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12 / AI 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AI 负责检索与起草，人负责取舍与核实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8CFF"/>
                </a:solidFill>
                <a:latin typeface="微软雅黑"/>
                <a:ea typeface="微软雅黑"/>
              </a:rPr>
              <a:t>AI 承担的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资料检索与同类产品梳理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需求/设计文档起草与结构整理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2900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Markdown → Word 的格式转换与自查清单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77639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代码骨架与测试用例初稿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21808" cy="30175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D166"/>
                </a:solidFill>
                <a:latin typeface="微软雅黑"/>
                <a:ea typeface="微软雅黑"/>
              </a:rPr>
              <a:t>人工负责的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需求取舍与 7 项明确否决（含理由）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15 项需求变更的裁决与影响分析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数值实测：模拟玩家校准、浏览器配额实测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977639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13 项关键结论的逐条核实（含截图证据）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93776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262057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103327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ECE9FF"/>
                </a:solidFill>
                <a:latin typeface="微软雅黑"/>
                <a:ea typeface="微软雅黑"/>
              </a:rPr>
              <a:t>留痕：19 条提示词 / 16 轮迭代 / 7 项否决 / 15 项修改，全部记录在《02_AI协作记录》；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ECE9FF"/>
                </a:solidFill>
                <a:latin typeface="微软雅黑"/>
                <a:ea typeface="微软雅黑"/>
              </a:rPr>
              <a:t>人工核实记录在《03_人工核实说明》，含浏览器实测 5 张截图。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B8CFF"/>
                </a:solidFill>
                <a:latin typeface="微软雅黑"/>
                <a:ea typeface="微软雅黑"/>
              </a:rPr>
              <a:t>13 / 分工与下一步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E9FF"/>
                </a:solidFill>
                <a:latin typeface="微软雅黑"/>
                <a:ea typeface="微软雅黑"/>
              </a:rPr>
              <a:t>两个人各管一半，下一步三件事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4572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B8CFF"/>
                </a:solidFill>
                <a:latin typeface="微软雅黑"/>
                <a:ea typeface="微软雅黑"/>
              </a:rPr>
              <a:t>邓淇阳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48463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需求分析与系统设计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48463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代码实现与自动化测试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82696"/>
            <a:ext cx="48463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演示脚本与现场操作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21808" cy="2331720"/>
          </a:xfrm>
          <a:prstGeom prst="roundRect">
            <a:avLst>
              <a:gd name="adj" fmla="val 6000"/>
            </a:avLst>
          </a:prstGeom>
          <a:solidFill>
            <a:srgbClr val="1E1A44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D166"/>
                </a:solidFill>
                <a:latin typeface="微软雅黑"/>
                <a:ea typeface="微软雅黑"/>
              </a:rPr>
              <a:t>【成员B】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8463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手机端实测与缺陷修复（PR #1）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07208"/>
            <a:ext cx="48463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PPT 与讲稿、录屏备份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82696"/>
            <a:ext cx="48463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CE9FF"/>
                </a:solidFill>
                <a:latin typeface="微软雅黑"/>
                <a:ea typeface="微软雅黑"/>
              </a:rPr>
              <a:t>— 答辩主答（架构/数据/测试）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9768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262057"/>
          </a:solidFill>
          <a:ln w="9525">
            <a:solidFill>
              <a:srgbClr val="32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9B8CFF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03327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• 真机性能与兼容实测（首屏、帧率、内存、离线）—— 按设计文档 §9.2 的基准设备与阈值执行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57216"/>
            <a:ext cx="103327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• 可用性测试：5 名同学无引导 5 分钟内过第 1 关（需求阶段遗留的 V-12 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327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CE9FF"/>
                </a:solidFill>
                <a:latin typeface="微软雅黑"/>
                <a:ea typeface="微软雅黑"/>
              </a:rPr>
              <a:t>• 云存档与更多关卡：替换 storage 后端接口即可接入，架构上已预留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8932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D166"/>
                </a:solidFill>
                <a:latin typeface="微软雅黑"/>
                <a:ea typeface="微软雅黑"/>
              </a:rPr>
              <a:t>谢谢，欢迎提问。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